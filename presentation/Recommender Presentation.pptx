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6" r:id="rId10"/>
    <p:sldId id="264"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silis Gerontatis" initials="VG" lastIdx="1" clrIdx="0">
    <p:extLst>
      <p:ext uri="{19B8F6BF-5375-455C-9EA6-DF929625EA0E}">
        <p15:presenceInfo xmlns:p15="http://schemas.microsoft.com/office/powerpoint/2012/main" userId="025af0c2033d41c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9503" autoAdjust="0"/>
  </p:normalViewPr>
  <p:slideViewPr>
    <p:cSldViewPr snapToGrid="0">
      <p:cViewPr varScale="1">
        <p:scale>
          <a:sx n="65" d="100"/>
          <a:sy n="65" d="100"/>
        </p:scale>
        <p:origin x="936" y="4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FFF3D5-063D-4CC1-8349-88AB7FEFD430}" type="datetimeFigureOut">
              <a:rPr lang="en-GB" smtClean="0"/>
              <a:t>28/07/2026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760AD1-26CC-4B82-880E-7994CCCB67F8}" type="slidenum">
              <a:rPr lang="en-GB" smtClean="0"/>
              <a:t>‹#›</a:t>
            </a:fld>
            <a:endParaRPr lang="en-GB"/>
          </a:p>
        </p:txBody>
      </p:sp>
    </p:spTree>
    <p:extLst>
      <p:ext uri="{BB962C8B-B14F-4D97-AF65-F5344CB8AC3E}">
        <p14:creationId xmlns:p14="http://schemas.microsoft.com/office/powerpoint/2010/main" val="949381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9760AD1-26CC-4B82-880E-7994CCCB67F8}" type="slidenum">
              <a:rPr lang="en-GB" smtClean="0"/>
              <a:t>6</a:t>
            </a:fld>
            <a:endParaRPr lang="en-GB"/>
          </a:p>
        </p:txBody>
      </p:sp>
    </p:spTree>
    <p:extLst>
      <p:ext uri="{BB962C8B-B14F-4D97-AF65-F5344CB8AC3E}">
        <p14:creationId xmlns:p14="http://schemas.microsoft.com/office/powerpoint/2010/main" val="27625787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24F5E-9A10-4691-C334-43180A22B5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F9559EE-340B-424B-DB81-D0AF6A6DA4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1753ACA-A24F-1612-456C-83447143D08F}"/>
              </a:ext>
            </a:extLst>
          </p:cNvPr>
          <p:cNvSpPr>
            <a:spLocks noGrp="1"/>
          </p:cNvSpPr>
          <p:nvPr>
            <p:ph type="dt" sz="half" idx="10"/>
          </p:nvPr>
        </p:nvSpPr>
        <p:spPr/>
        <p:txBody>
          <a:bodyPr/>
          <a:lstStyle/>
          <a:p>
            <a:fld id="{68BD01A5-178E-42BA-8DE3-1E83FF417D73}" type="datetimeFigureOut">
              <a:rPr lang="en-GB" smtClean="0"/>
              <a:t>28/07/2026</a:t>
            </a:fld>
            <a:endParaRPr lang="en-GB"/>
          </a:p>
        </p:txBody>
      </p:sp>
      <p:sp>
        <p:nvSpPr>
          <p:cNvPr id="5" name="Footer Placeholder 4">
            <a:extLst>
              <a:ext uri="{FF2B5EF4-FFF2-40B4-BE49-F238E27FC236}">
                <a16:creationId xmlns:a16="http://schemas.microsoft.com/office/drawing/2014/main" id="{6ADD3B00-504F-30D5-B754-C45FBC810A4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E47408B-A887-A7B0-6AA5-0AE0B987C237}"/>
              </a:ext>
            </a:extLst>
          </p:cNvPr>
          <p:cNvSpPr>
            <a:spLocks noGrp="1"/>
          </p:cNvSpPr>
          <p:nvPr>
            <p:ph type="sldNum" sz="quarter" idx="12"/>
          </p:nvPr>
        </p:nvSpPr>
        <p:spPr/>
        <p:txBody>
          <a:bodyPr/>
          <a:lstStyle/>
          <a:p>
            <a:fld id="{42D824DF-8EAF-4060-BCDA-F46ADA2FA54D}" type="slidenum">
              <a:rPr lang="en-GB" smtClean="0"/>
              <a:t>‹#›</a:t>
            </a:fld>
            <a:endParaRPr lang="en-GB"/>
          </a:p>
        </p:txBody>
      </p:sp>
    </p:spTree>
    <p:extLst>
      <p:ext uri="{BB962C8B-B14F-4D97-AF65-F5344CB8AC3E}">
        <p14:creationId xmlns:p14="http://schemas.microsoft.com/office/powerpoint/2010/main" val="567849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79C6F-8844-CDB1-B341-9C95534F6D7F}"/>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B3446DD-EC89-2697-7263-5958EC1CCD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52627DB-0EC3-475E-DE9C-A2A4C53A7F9A}"/>
              </a:ext>
            </a:extLst>
          </p:cNvPr>
          <p:cNvSpPr>
            <a:spLocks noGrp="1"/>
          </p:cNvSpPr>
          <p:nvPr>
            <p:ph type="dt" sz="half" idx="10"/>
          </p:nvPr>
        </p:nvSpPr>
        <p:spPr/>
        <p:txBody>
          <a:bodyPr/>
          <a:lstStyle/>
          <a:p>
            <a:fld id="{68BD01A5-178E-42BA-8DE3-1E83FF417D73}" type="datetimeFigureOut">
              <a:rPr lang="en-GB" smtClean="0"/>
              <a:t>28/07/2026</a:t>
            </a:fld>
            <a:endParaRPr lang="en-GB"/>
          </a:p>
        </p:txBody>
      </p:sp>
      <p:sp>
        <p:nvSpPr>
          <p:cNvPr id="5" name="Footer Placeholder 4">
            <a:extLst>
              <a:ext uri="{FF2B5EF4-FFF2-40B4-BE49-F238E27FC236}">
                <a16:creationId xmlns:a16="http://schemas.microsoft.com/office/drawing/2014/main" id="{637D4578-FD6E-3D32-144C-23E60D4D88A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24844B6-DAB0-C41D-1899-720AACB4C2AB}"/>
              </a:ext>
            </a:extLst>
          </p:cNvPr>
          <p:cNvSpPr>
            <a:spLocks noGrp="1"/>
          </p:cNvSpPr>
          <p:nvPr>
            <p:ph type="sldNum" sz="quarter" idx="12"/>
          </p:nvPr>
        </p:nvSpPr>
        <p:spPr/>
        <p:txBody>
          <a:bodyPr/>
          <a:lstStyle/>
          <a:p>
            <a:fld id="{42D824DF-8EAF-4060-BCDA-F46ADA2FA54D}" type="slidenum">
              <a:rPr lang="en-GB" smtClean="0"/>
              <a:t>‹#›</a:t>
            </a:fld>
            <a:endParaRPr lang="en-GB"/>
          </a:p>
        </p:txBody>
      </p:sp>
    </p:spTree>
    <p:extLst>
      <p:ext uri="{BB962C8B-B14F-4D97-AF65-F5344CB8AC3E}">
        <p14:creationId xmlns:p14="http://schemas.microsoft.com/office/powerpoint/2010/main" val="265566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9379E-4C50-0E8D-5DCD-486FDADC42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42269881-F8F0-5323-1FF5-410C8265D4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AC3B5B-3F47-101F-91AB-FA793C1941A2}"/>
              </a:ext>
            </a:extLst>
          </p:cNvPr>
          <p:cNvSpPr>
            <a:spLocks noGrp="1"/>
          </p:cNvSpPr>
          <p:nvPr>
            <p:ph type="dt" sz="half" idx="10"/>
          </p:nvPr>
        </p:nvSpPr>
        <p:spPr/>
        <p:txBody>
          <a:bodyPr/>
          <a:lstStyle/>
          <a:p>
            <a:fld id="{68BD01A5-178E-42BA-8DE3-1E83FF417D73}" type="datetimeFigureOut">
              <a:rPr lang="en-GB" smtClean="0"/>
              <a:t>28/07/2026</a:t>
            </a:fld>
            <a:endParaRPr lang="en-GB"/>
          </a:p>
        </p:txBody>
      </p:sp>
      <p:sp>
        <p:nvSpPr>
          <p:cNvPr id="5" name="Footer Placeholder 4">
            <a:extLst>
              <a:ext uri="{FF2B5EF4-FFF2-40B4-BE49-F238E27FC236}">
                <a16:creationId xmlns:a16="http://schemas.microsoft.com/office/drawing/2014/main" id="{AF10789D-CCF5-86FB-8FB2-933E3A76AFF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54F7FE3-28D5-D815-F4AA-A9387C65B363}"/>
              </a:ext>
            </a:extLst>
          </p:cNvPr>
          <p:cNvSpPr>
            <a:spLocks noGrp="1"/>
          </p:cNvSpPr>
          <p:nvPr>
            <p:ph type="sldNum" sz="quarter" idx="12"/>
          </p:nvPr>
        </p:nvSpPr>
        <p:spPr/>
        <p:txBody>
          <a:bodyPr/>
          <a:lstStyle/>
          <a:p>
            <a:fld id="{42D824DF-8EAF-4060-BCDA-F46ADA2FA54D}" type="slidenum">
              <a:rPr lang="en-GB" smtClean="0"/>
              <a:t>‹#›</a:t>
            </a:fld>
            <a:endParaRPr lang="en-GB"/>
          </a:p>
        </p:txBody>
      </p:sp>
    </p:spTree>
    <p:extLst>
      <p:ext uri="{BB962C8B-B14F-4D97-AF65-F5344CB8AC3E}">
        <p14:creationId xmlns:p14="http://schemas.microsoft.com/office/powerpoint/2010/main" val="3544640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0D1E2-BE5E-288D-7352-0DD2CEB31C5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60D6393-9A29-A23D-395D-0D3703BB491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FB0CC86-9CCD-BD03-5B51-2C3D8B3180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5ADA319-FC04-3CEF-B01F-4F5E97E08339}"/>
              </a:ext>
            </a:extLst>
          </p:cNvPr>
          <p:cNvSpPr>
            <a:spLocks noGrp="1"/>
          </p:cNvSpPr>
          <p:nvPr>
            <p:ph type="dt" sz="half" idx="10"/>
          </p:nvPr>
        </p:nvSpPr>
        <p:spPr/>
        <p:txBody>
          <a:bodyPr/>
          <a:lstStyle/>
          <a:p>
            <a:fld id="{68BD01A5-178E-42BA-8DE3-1E83FF417D73}" type="datetimeFigureOut">
              <a:rPr lang="en-GB" smtClean="0"/>
              <a:t>28/07/2026</a:t>
            </a:fld>
            <a:endParaRPr lang="en-GB"/>
          </a:p>
        </p:txBody>
      </p:sp>
      <p:sp>
        <p:nvSpPr>
          <p:cNvPr id="6" name="Footer Placeholder 5">
            <a:extLst>
              <a:ext uri="{FF2B5EF4-FFF2-40B4-BE49-F238E27FC236}">
                <a16:creationId xmlns:a16="http://schemas.microsoft.com/office/drawing/2014/main" id="{C03F86FF-2CA7-897B-F72E-811C8873930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0469106-2FE6-212B-E543-98A0DE364BAD}"/>
              </a:ext>
            </a:extLst>
          </p:cNvPr>
          <p:cNvSpPr>
            <a:spLocks noGrp="1"/>
          </p:cNvSpPr>
          <p:nvPr>
            <p:ph type="sldNum" sz="quarter" idx="12"/>
          </p:nvPr>
        </p:nvSpPr>
        <p:spPr/>
        <p:txBody>
          <a:bodyPr/>
          <a:lstStyle/>
          <a:p>
            <a:fld id="{42D824DF-8EAF-4060-BCDA-F46ADA2FA54D}" type="slidenum">
              <a:rPr lang="en-GB" smtClean="0"/>
              <a:t>‹#›</a:t>
            </a:fld>
            <a:endParaRPr lang="en-GB"/>
          </a:p>
        </p:txBody>
      </p:sp>
    </p:spTree>
    <p:extLst>
      <p:ext uri="{BB962C8B-B14F-4D97-AF65-F5344CB8AC3E}">
        <p14:creationId xmlns:p14="http://schemas.microsoft.com/office/powerpoint/2010/main" val="2236798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65AC5-68A4-CD66-4DF0-F3CE427A410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DFFA4B5-4CDF-CAF9-5ED4-C44A30DEAF5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1B1D7F-BC2A-91C4-588D-45A4C4A111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D71321B-4ED2-9B93-DCCE-7286133AF8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57859C-C046-52DB-1846-2E35029A96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C85B1D5-038A-E47D-EF58-9A8F79853072}"/>
              </a:ext>
            </a:extLst>
          </p:cNvPr>
          <p:cNvSpPr>
            <a:spLocks noGrp="1"/>
          </p:cNvSpPr>
          <p:nvPr>
            <p:ph type="dt" sz="half" idx="10"/>
          </p:nvPr>
        </p:nvSpPr>
        <p:spPr/>
        <p:txBody>
          <a:bodyPr/>
          <a:lstStyle/>
          <a:p>
            <a:fld id="{68BD01A5-178E-42BA-8DE3-1E83FF417D73}" type="datetimeFigureOut">
              <a:rPr lang="en-GB" smtClean="0"/>
              <a:t>28/07/2026</a:t>
            </a:fld>
            <a:endParaRPr lang="en-GB"/>
          </a:p>
        </p:txBody>
      </p:sp>
      <p:sp>
        <p:nvSpPr>
          <p:cNvPr id="8" name="Footer Placeholder 7">
            <a:extLst>
              <a:ext uri="{FF2B5EF4-FFF2-40B4-BE49-F238E27FC236}">
                <a16:creationId xmlns:a16="http://schemas.microsoft.com/office/drawing/2014/main" id="{EC2E66AE-CE82-5864-8AE2-4E7EE43BD99D}"/>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554AE6F-3A3C-F23A-950E-69877569CB59}"/>
              </a:ext>
            </a:extLst>
          </p:cNvPr>
          <p:cNvSpPr>
            <a:spLocks noGrp="1"/>
          </p:cNvSpPr>
          <p:nvPr>
            <p:ph type="sldNum" sz="quarter" idx="12"/>
          </p:nvPr>
        </p:nvSpPr>
        <p:spPr/>
        <p:txBody>
          <a:bodyPr/>
          <a:lstStyle/>
          <a:p>
            <a:fld id="{42D824DF-8EAF-4060-BCDA-F46ADA2FA54D}" type="slidenum">
              <a:rPr lang="en-GB" smtClean="0"/>
              <a:t>‹#›</a:t>
            </a:fld>
            <a:endParaRPr lang="en-GB"/>
          </a:p>
        </p:txBody>
      </p:sp>
    </p:spTree>
    <p:extLst>
      <p:ext uri="{BB962C8B-B14F-4D97-AF65-F5344CB8AC3E}">
        <p14:creationId xmlns:p14="http://schemas.microsoft.com/office/powerpoint/2010/main" val="3243599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46DFA-4616-E9EE-40D9-062AA7B8B0D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D120837-5CDD-D457-7B27-73E26D433CA4}"/>
              </a:ext>
            </a:extLst>
          </p:cNvPr>
          <p:cNvSpPr>
            <a:spLocks noGrp="1"/>
          </p:cNvSpPr>
          <p:nvPr>
            <p:ph type="dt" sz="half" idx="10"/>
          </p:nvPr>
        </p:nvSpPr>
        <p:spPr/>
        <p:txBody>
          <a:bodyPr/>
          <a:lstStyle/>
          <a:p>
            <a:fld id="{68BD01A5-178E-42BA-8DE3-1E83FF417D73}" type="datetimeFigureOut">
              <a:rPr lang="en-GB" smtClean="0"/>
              <a:t>28/07/2026</a:t>
            </a:fld>
            <a:endParaRPr lang="en-GB"/>
          </a:p>
        </p:txBody>
      </p:sp>
      <p:sp>
        <p:nvSpPr>
          <p:cNvPr id="4" name="Footer Placeholder 3">
            <a:extLst>
              <a:ext uri="{FF2B5EF4-FFF2-40B4-BE49-F238E27FC236}">
                <a16:creationId xmlns:a16="http://schemas.microsoft.com/office/drawing/2014/main" id="{6763C01A-0251-1D33-A0E9-52FAC16E978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5D6950B-D822-E531-C048-84E5D7B39CB4}"/>
              </a:ext>
            </a:extLst>
          </p:cNvPr>
          <p:cNvSpPr>
            <a:spLocks noGrp="1"/>
          </p:cNvSpPr>
          <p:nvPr>
            <p:ph type="sldNum" sz="quarter" idx="12"/>
          </p:nvPr>
        </p:nvSpPr>
        <p:spPr/>
        <p:txBody>
          <a:bodyPr/>
          <a:lstStyle/>
          <a:p>
            <a:fld id="{42D824DF-8EAF-4060-BCDA-F46ADA2FA54D}" type="slidenum">
              <a:rPr lang="en-GB" smtClean="0"/>
              <a:t>‹#›</a:t>
            </a:fld>
            <a:endParaRPr lang="en-GB"/>
          </a:p>
        </p:txBody>
      </p:sp>
    </p:spTree>
    <p:extLst>
      <p:ext uri="{BB962C8B-B14F-4D97-AF65-F5344CB8AC3E}">
        <p14:creationId xmlns:p14="http://schemas.microsoft.com/office/powerpoint/2010/main" val="734952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ABA6B9-2ED0-A026-D682-7C2BB4E52D76}"/>
              </a:ext>
            </a:extLst>
          </p:cNvPr>
          <p:cNvSpPr>
            <a:spLocks noGrp="1"/>
          </p:cNvSpPr>
          <p:nvPr>
            <p:ph type="dt" sz="half" idx="10"/>
          </p:nvPr>
        </p:nvSpPr>
        <p:spPr/>
        <p:txBody>
          <a:bodyPr/>
          <a:lstStyle/>
          <a:p>
            <a:fld id="{68BD01A5-178E-42BA-8DE3-1E83FF417D73}" type="datetimeFigureOut">
              <a:rPr lang="en-GB" smtClean="0"/>
              <a:t>28/07/2026</a:t>
            </a:fld>
            <a:endParaRPr lang="en-GB"/>
          </a:p>
        </p:txBody>
      </p:sp>
      <p:sp>
        <p:nvSpPr>
          <p:cNvPr id="3" name="Footer Placeholder 2">
            <a:extLst>
              <a:ext uri="{FF2B5EF4-FFF2-40B4-BE49-F238E27FC236}">
                <a16:creationId xmlns:a16="http://schemas.microsoft.com/office/drawing/2014/main" id="{FDA2897E-DC96-9E7D-2885-67526B410ECA}"/>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2F2670D-707F-7C40-ACCD-27D7FE8C2168}"/>
              </a:ext>
            </a:extLst>
          </p:cNvPr>
          <p:cNvSpPr>
            <a:spLocks noGrp="1"/>
          </p:cNvSpPr>
          <p:nvPr>
            <p:ph type="sldNum" sz="quarter" idx="12"/>
          </p:nvPr>
        </p:nvSpPr>
        <p:spPr/>
        <p:txBody>
          <a:bodyPr/>
          <a:lstStyle/>
          <a:p>
            <a:fld id="{42D824DF-8EAF-4060-BCDA-F46ADA2FA54D}" type="slidenum">
              <a:rPr lang="en-GB" smtClean="0"/>
              <a:t>‹#›</a:t>
            </a:fld>
            <a:endParaRPr lang="en-GB"/>
          </a:p>
        </p:txBody>
      </p:sp>
    </p:spTree>
    <p:extLst>
      <p:ext uri="{BB962C8B-B14F-4D97-AF65-F5344CB8AC3E}">
        <p14:creationId xmlns:p14="http://schemas.microsoft.com/office/powerpoint/2010/main" val="4219822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C4D70-D1D7-79F7-1CD2-9C8FDFAFB6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2BBA051-B966-5FC4-8A8E-EAE9F8D60EA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3B77F88-924F-FC10-D9F2-DEDAFDA9E7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8FFDC5-7215-0BB3-D2F7-F5B946129CB3}"/>
              </a:ext>
            </a:extLst>
          </p:cNvPr>
          <p:cNvSpPr>
            <a:spLocks noGrp="1"/>
          </p:cNvSpPr>
          <p:nvPr>
            <p:ph type="dt" sz="half" idx="10"/>
          </p:nvPr>
        </p:nvSpPr>
        <p:spPr/>
        <p:txBody>
          <a:bodyPr/>
          <a:lstStyle/>
          <a:p>
            <a:fld id="{68BD01A5-178E-42BA-8DE3-1E83FF417D73}" type="datetimeFigureOut">
              <a:rPr lang="en-GB" smtClean="0"/>
              <a:t>28/07/2026</a:t>
            </a:fld>
            <a:endParaRPr lang="en-GB"/>
          </a:p>
        </p:txBody>
      </p:sp>
      <p:sp>
        <p:nvSpPr>
          <p:cNvPr id="6" name="Footer Placeholder 5">
            <a:extLst>
              <a:ext uri="{FF2B5EF4-FFF2-40B4-BE49-F238E27FC236}">
                <a16:creationId xmlns:a16="http://schemas.microsoft.com/office/drawing/2014/main" id="{1CF7D4FF-7B86-3AC3-3FCE-353DAA90ECF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C022565-43EB-8DD5-560E-ABC92318C14A}"/>
              </a:ext>
            </a:extLst>
          </p:cNvPr>
          <p:cNvSpPr>
            <a:spLocks noGrp="1"/>
          </p:cNvSpPr>
          <p:nvPr>
            <p:ph type="sldNum" sz="quarter" idx="12"/>
          </p:nvPr>
        </p:nvSpPr>
        <p:spPr/>
        <p:txBody>
          <a:bodyPr/>
          <a:lstStyle/>
          <a:p>
            <a:fld id="{42D824DF-8EAF-4060-BCDA-F46ADA2FA54D}" type="slidenum">
              <a:rPr lang="en-GB" smtClean="0"/>
              <a:t>‹#›</a:t>
            </a:fld>
            <a:endParaRPr lang="en-GB"/>
          </a:p>
        </p:txBody>
      </p:sp>
    </p:spTree>
    <p:extLst>
      <p:ext uri="{BB962C8B-B14F-4D97-AF65-F5344CB8AC3E}">
        <p14:creationId xmlns:p14="http://schemas.microsoft.com/office/powerpoint/2010/main" val="255287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EB68C-C59B-3764-C86E-C9B7CDC968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4E63823A-A1F6-2BB0-4315-BC632D15A2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32C1500E-9A0D-BCC3-0E5A-3E548B8A19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BB43CF-96F2-224C-5C91-F6246BF0E521}"/>
              </a:ext>
            </a:extLst>
          </p:cNvPr>
          <p:cNvSpPr>
            <a:spLocks noGrp="1"/>
          </p:cNvSpPr>
          <p:nvPr>
            <p:ph type="dt" sz="half" idx="10"/>
          </p:nvPr>
        </p:nvSpPr>
        <p:spPr/>
        <p:txBody>
          <a:bodyPr/>
          <a:lstStyle/>
          <a:p>
            <a:fld id="{68BD01A5-178E-42BA-8DE3-1E83FF417D73}" type="datetimeFigureOut">
              <a:rPr lang="en-GB" smtClean="0"/>
              <a:t>28/07/2026</a:t>
            </a:fld>
            <a:endParaRPr lang="en-GB"/>
          </a:p>
        </p:txBody>
      </p:sp>
      <p:sp>
        <p:nvSpPr>
          <p:cNvPr id="6" name="Footer Placeholder 5">
            <a:extLst>
              <a:ext uri="{FF2B5EF4-FFF2-40B4-BE49-F238E27FC236}">
                <a16:creationId xmlns:a16="http://schemas.microsoft.com/office/drawing/2014/main" id="{6F3CB431-67FB-48C6-3C7F-18689D4E7AF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95DE67B-F94B-916F-29E5-057DF68E5EA9}"/>
              </a:ext>
            </a:extLst>
          </p:cNvPr>
          <p:cNvSpPr>
            <a:spLocks noGrp="1"/>
          </p:cNvSpPr>
          <p:nvPr>
            <p:ph type="sldNum" sz="quarter" idx="12"/>
          </p:nvPr>
        </p:nvSpPr>
        <p:spPr/>
        <p:txBody>
          <a:bodyPr/>
          <a:lstStyle/>
          <a:p>
            <a:fld id="{42D824DF-8EAF-4060-BCDA-F46ADA2FA54D}" type="slidenum">
              <a:rPr lang="en-GB" smtClean="0"/>
              <a:t>‹#›</a:t>
            </a:fld>
            <a:endParaRPr lang="en-GB"/>
          </a:p>
        </p:txBody>
      </p:sp>
    </p:spTree>
    <p:extLst>
      <p:ext uri="{BB962C8B-B14F-4D97-AF65-F5344CB8AC3E}">
        <p14:creationId xmlns:p14="http://schemas.microsoft.com/office/powerpoint/2010/main" val="4004767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3F678-92EE-9D1C-3EF9-FAFC1A40501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E79535D-6330-5677-3506-B26F303271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1720EA9-8FD4-5A4A-49A7-8BD78E8CDBD8}"/>
              </a:ext>
            </a:extLst>
          </p:cNvPr>
          <p:cNvSpPr>
            <a:spLocks noGrp="1"/>
          </p:cNvSpPr>
          <p:nvPr>
            <p:ph type="dt" sz="half" idx="10"/>
          </p:nvPr>
        </p:nvSpPr>
        <p:spPr/>
        <p:txBody>
          <a:bodyPr/>
          <a:lstStyle/>
          <a:p>
            <a:fld id="{68BD01A5-178E-42BA-8DE3-1E83FF417D73}" type="datetimeFigureOut">
              <a:rPr lang="en-GB" smtClean="0"/>
              <a:t>28/07/2026</a:t>
            </a:fld>
            <a:endParaRPr lang="en-GB"/>
          </a:p>
        </p:txBody>
      </p:sp>
      <p:sp>
        <p:nvSpPr>
          <p:cNvPr id="5" name="Footer Placeholder 4">
            <a:extLst>
              <a:ext uri="{FF2B5EF4-FFF2-40B4-BE49-F238E27FC236}">
                <a16:creationId xmlns:a16="http://schemas.microsoft.com/office/drawing/2014/main" id="{EDB72DEF-3DB8-565C-80B5-3E1C2F0238B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718BDE7-B269-5EBE-4C7A-F156E93E1011}"/>
              </a:ext>
            </a:extLst>
          </p:cNvPr>
          <p:cNvSpPr>
            <a:spLocks noGrp="1"/>
          </p:cNvSpPr>
          <p:nvPr>
            <p:ph type="sldNum" sz="quarter" idx="12"/>
          </p:nvPr>
        </p:nvSpPr>
        <p:spPr/>
        <p:txBody>
          <a:bodyPr/>
          <a:lstStyle/>
          <a:p>
            <a:fld id="{42D824DF-8EAF-4060-BCDA-F46ADA2FA54D}" type="slidenum">
              <a:rPr lang="en-GB" smtClean="0"/>
              <a:t>‹#›</a:t>
            </a:fld>
            <a:endParaRPr lang="en-GB"/>
          </a:p>
        </p:txBody>
      </p:sp>
    </p:spTree>
    <p:extLst>
      <p:ext uri="{BB962C8B-B14F-4D97-AF65-F5344CB8AC3E}">
        <p14:creationId xmlns:p14="http://schemas.microsoft.com/office/powerpoint/2010/main" val="3517590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A5696D-E720-0DA8-D11C-F50DA681C55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47A0CB2-BD14-A78C-93A2-B4A73036C4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38673AF-6B24-6098-E2C9-DAA2C9AC1425}"/>
              </a:ext>
            </a:extLst>
          </p:cNvPr>
          <p:cNvSpPr>
            <a:spLocks noGrp="1"/>
          </p:cNvSpPr>
          <p:nvPr>
            <p:ph type="dt" sz="half" idx="10"/>
          </p:nvPr>
        </p:nvSpPr>
        <p:spPr/>
        <p:txBody>
          <a:bodyPr/>
          <a:lstStyle/>
          <a:p>
            <a:fld id="{68BD01A5-178E-42BA-8DE3-1E83FF417D73}" type="datetimeFigureOut">
              <a:rPr lang="en-GB" smtClean="0"/>
              <a:t>28/07/2026</a:t>
            </a:fld>
            <a:endParaRPr lang="en-GB"/>
          </a:p>
        </p:txBody>
      </p:sp>
      <p:sp>
        <p:nvSpPr>
          <p:cNvPr id="5" name="Footer Placeholder 4">
            <a:extLst>
              <a:ext uri="{FF2B5EF4-FFF2-40B4-BE49-F238E27FC236}">
                <a16:creationId xmlns:a16="http://schemas.microsoft.com/office/drawing/2014/main" id="{EA4DF5D0-CF60-C01E-7DC5-65AD16F41EE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BA3C497-4963-7D51-941E-84A534089E92}"/>
              </a:ext>
            </a:extLst>
          </p:cNvPr>
          <p:cNvSpPr>
            <a:spLocks noGrp="1"/>
          </p:cNvSpPr>
          <p:nvPr>
            <p:ph type="sldNum" sz="quarter" idx="12"/>
          </p:nvPr>
        </p:nvSpPr>
        <p:spPr/>
        <p:txBody>
          <a:bodyPr/>
          <a:lstStyle/>
          <a:p>
            <a:fld id="{42D824DF-8EAF-4060-BCDA-F46ADA2FA54D}" type="slidenum">
              <a:rPr lang="en-GB" smtClean="0"/>
              <a:t>‹#›</a:t>
            </a:fld>
            <a:endParaRPr lang="en-GB"/>
          </a:p>
        </p:txBody>
      </p:sp>
    </p:spTree>
    <p:extLst>
      <p:ext uri="{BB962C8B-B14F-4D97-AF65-F5344CB8AC3E}">
        <p14:creationId xmlns:p14="http://schemas.microsoft.com/office/powerpoint/2010/main" val="713930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01832C-6BDB-3E57-3D48-CE442DD626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C1C4E80-52B8-E46D-C627-E1C7C74923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F19642C-6141-7687-F023-1FFE8E334AD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BD01A5-178E-42BA-8DE3-1E83FF417D73}" type="datetimeFigureOut">
              <a:rPr lang="en-GB" smtClean="0"/>
              <a:t>28/07/2026</a:t>
            </a:fld>
            <a:endParaRPr lang="en-GB"/>
          </a:p>
        </p:txBody>
      </p:sp>
      <p:sp>
        <p:nvSpPr>
          <p:cNvPr id="5" name="Footer Placeholder 4">
            <a:extLst>
              <a:ext uri="{FF2B5EF4-FFF2-40B4-BE49-F238E27FC236}">
                <a16:creationId xmlns:a16="http://schemas.microsoft.com/office/drawing/2014/main" id="{8C09639E-0C32-C118-C287-0EFB4F924C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A041011-E3BB-160D-49EC-8FDE5233D3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D824DF-8EAF-4060-BCDA-F46ADA2FA54D}" type="slidenum">
              <a:rPr lang="en-GB" smtClean="0"/>
              <a:t>‹#›</a:t>
            </a:fld>
            <a:endParaRPr lang="en-GB"/>
          </a:p>
        </p:txBody>
      </p:sp>
    </p:spTree>
    <p:extLst>
      <p:ext uri="{BB962C8B-B14F-4D97-AF65-F5344CB8AC3E}">
        <p14:creationId xmlns:p14="http://schemas.microsoft.com/office/powerpoint/2010/main" val="1314331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508FD-A1D6-975C-DD16-75049564218E}"/>
              </a:ext>
            </a:extLst>
          </p:cNvPr>
          <p:cNvSpPr>
            <a:spLocks noGrp="1"/>
          </p:cNvSpPr>
          <p:nvPr>
            <p:ph type="ctrTitle"/>
          </p:nvPr>
        </p:nvSpPr>
        <p:spPr>
          <a:xfrm>
            <a:off x="1524000" y="1625284"/>
            <a:ext cx="9144000" cy="1525880"/>
          </a:xfrm>
        </p:spPr>
        <p:txBody>
          <a:bodyPr>
            <a:noAutofit/>
          </a:bodyPr>
          <a:lstStyle/>
          <a:p>
            <a:r>
              <a:rPr lang="en-GB" sz="5400" b="1" dirty="0">
                <a:latin typeface="+mn-lt"/>
              </a:rPr>
              <a:t>Movie Recommendation Systems</a:t>
            </a:r>
          </a:p>
        </p:txBody>
      </p:sp>
      <p:sp>
        <p:nvSpPr>
          <p:cNvPr id="3" name="Subtitle 2">
            <a:extLst>
              <a:ext uri="{FF2B5EF4-FFF2-40B4-BE49-F238E27FC236}">
                <a16:creationId xmlns:a16="http://schemas.microsoft.com/office/drawing/2014/main" id="{104D5BAB-A3E2-D664-7DCF-3CF7E42997A1}"/>
              </a:ext>
            </a:extLst>
          </p:cNvPr>
          <p:cNvSpPr>
            <a:spLocks noGrp="1"/>
          </p:cNvSpPr>
          <p:nvPr>
            <p:ph type="subTitle" idx="1"/>
          </p:nvPr>
        </p:nvSpPr>
        <p:spPr>
          <a:xfrm>
            <a:off x="1524000" y="6209071"/>
            <a:ext cx="9144000" cy="648929"/>
          </a:xfrm>
        </p:spPr>
        <p:txBody>
          <a:bodyPr>
            <a:noAutofit/>
          </a:bodyPr>
          <a:lstStyle/>
          <a:p>
            <a:r>
              <a:rPr lang="en-GB" sz="2000" b="1" dirty="0">
                <a:cs typeface="Arial" panose="020B0604020202020204" pitchFamily="34" charset="0"/>
              </a:rPr>
              <a:t>Vasilis Gerontatis, BSc (Physics)</a:t>
            </a:r>
            <a:br>
              <a:rPr lang="en-GB" sz="2000" dirty="0">
                <a:cs typeface="Arial" panose="020B0604020202020204" pitchFamily="34" charset="0"/>
              </a:rPr>
            </a:br>
            <a:r>
              <a:rPr lang="en-GB" sz="2000" dirty="0">
                <a:cs typeface="Arial" panose="020B0604020202020204" pitchFamily="34" charset="0"/>
              </a:rPr>
              <a:t>MSc in Data Science and Machine Learning</a:t>
            </a:r>
          </a:p>
        </p:txBody>
      </p:sp>
    </p:spTree>
    <p:extLst>
      <p:ext uri="{BB962C8B-B14F-4D97-AF65-F5344CB8AC3E}">
        <p14:creationId xmlns:p14="http://schemas.microsoft.com/office/powerpoint/2010/main" val="1856562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7E65B-D21C-CA2B-1A4F-121983598832}"/>
              </a:ext>
            </a:extLst>
          </p:cNvPr>
          <p:cNvSpPr>
            <a:spLocks noGrp="1"/>
          </p:cNvSpPr>
          <p:nvPr>
            <p:ph type="title"/>
          </p:nvPr>
        </p:nvSpPr>
        <p:spPr>
          <a:xfrm>
            <a:off x="838200" y="0"/>
            <a:ext cx="10515600" cy="816561"/>
          </a:xfrm>
        </p:spPr>
        <p:txBody>
          <a:bodyPr>
            <a:normAutofit/>
          </a:bodyPr>
          <a:lstStyle/>
          <a:p>
            <a:r>
              <a:rPr lang="en-GB" sz="2800" b="1" dirty="0">
                <a:effectLst/>
                <a:ea typeface="Times New Roman" panose="02020603050405020304" pitchFamily="18" charset="0"/>
              </a:rPr>
              <a:t>1.  </a:t>
            </a:r>
            <a:r>
              <a:rPr lang="en-GB" sz="2800" b="1" u="sng" dirty="0">
                <a:effectLst/>
                <a:ea typeface="Times New Roman" panose="02020603050405020304" pitchFamily="18" charset="0"/>
              </a:rPr>
              <a:t>Introduction</a:t>
            </a:r>
            <a:endParaRPr lang="en-GB" sz="2800" b="1" u="sng" dirty="0"/>
          </a:p>
        </p:txBody>
      </p:sp>
      <p:sp>
        <p:nvSpPr>
          <p:cNvPr id="3" name="Content Placeholder 2">
            <a:extLst>
              <a:ext uri="{FF2B5EF4-FFF2-40B4-BE49-F238E27FC236}">
                <a16:creationId xmlns:a16="http://schemas.microsoft.com/office/drawing/2014/main" id="{A696BD20-8A09-E260-5083-BA80A26A391F}"/>
              </a:ext>
            </a:extLst>
          </p:cNvPr>
          <p:cNvSpPr>
            <a:spLocks noGrp="1"/>
          </p:cNvSpPr>
          <p:nvPr>
            <p:ph idx="1"/>
          </p:nvPr>
        </p:nvSpPr>
        <p:spPr>
          <a:xfrm>
            <a:off x="838200" y="816561"/>
            <a:ext cx="10515600" cy="3354351"/>
          </a:xfrm>
        </p:spPr>
        <p:txBody>
          <a:bodyPr>
            <a:normAutofit/>
          </a:bodyPr>
          <a:lstStyle/>
          <a:p>
            <a:pPr marL="0" indent="0">
              <a:buNone/>
            </a:pPr>
            <a:r>
              <a:rPr lang="en-GB" sz="2600" dirty="0"/>
              <a:t>Recommendation systems are among the most impactful applications of machine learning, powering content discovery across streaming platforms, e-commerce, and social media. At their core they solve a single problem: given a large catalogue and a user with unknown preferences over most of it, surface the items most likely to be relevant.</a:t>
            </a:r>
          </a:p>
          <a:p>
            <a:pPr marL="0" indent="0">
              <a:buNone/>
            </a:pPr>
            <a:br>
              <a:rPr lang="en-GB" sz="2600" dirty="0"/>
            </a:br>
            <a:r>
              <a:rPr lang="en-GB" sz="2600" dirty="0"/>
              <a:t>This project builds a movie recommendation engine from scratch, implementing four algorithms that each approach that problem differently.</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56981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F8E3C-1850-0E81-49BC-AE2B556D2981}"/>
              </a:ext>
            </a:extLst>
          </p:cNvPr>
          <p:cNvSpPr>
            <a:spLocks noGrp="1"/>
          </p:cNvSpPr>
          <p:nvPr>
            <p:ph type="title"/>
          </p:nvPr>
        </p:nvSpPr>
        <p:spPr>
          <a:xfrm>
            <a:off x="838200" y="84996"/>
            <a:ext cx="10515600" cy="759156"/>
          </a:xfrm>
        </p:spPr>
        <p:txBody>
          <a:bodyPr>
            <a:normAutofit/>
          </a:bodyPr>
          <a:lstStyle/>
          <a:p>
            <a:r>
              <a:rPr lang="en-GB" sz="2800" b="1" dirty="0"/>
              <a:t>2.  </a:t>
            </a:r>
            <a:r>
              <a:rPr lang="en-GB" sz="2800" b="1" u="sng" dirty="0"/>
              <a:t>Algorithms</a:t>
            </a:r>
            <a:endParaRPr lang="en-GB" sz="2800" u="sng" dirty="0"/>
          </a:p>
        </p:txBody>
      </p:sp>
      <p:sp>
        <p:nvSpPr>
          <p:cNvPr id="3" name="Content Placeholder 2">
            <a:extLst>
              <a:ext uri="{FF2B5EF4-FFF2-40B4-BE49-F238E27FC236}">
                <a16:creationId xmlns:a16="http://schemas.microsoft.com/office/drawing/2014/main" id="{7E40C703-EB0D-4DEC-1D6A-D4B3D1AFFFF2}"/>
              </a:ext>
            </a:extLst>
          </p:cNvPr>
          <p:cNvSpPr>
            <a:spLocks noGrp="1"/>
          </p:cNvSpPr>
          <p:nvPr>
            <p:ph idx="1"/>
          </p:nvPr>
        </p:nvSpPr>
        <p:spPr>
          <a:xfrm>
            <a:off x="838200" y="844152"/>
            <a:ext cx="10515600" cy="5169696"/>
          </a:xfrm>
        </p:spPr>
        <p:txBody>
          <a:bodyPr>
            <a:normAutofit lnSpcReduction="10000"/>
          </a:bodyPr>
          <a:lstStyle/>
          <a:p>
            <a:r>
              <a:rPr lang="en-GB" sz="2600" b="1" dirty="0"/>
              <a:t>Content-Based Filtering </a:t>
            </a:r>
            <a:r>
              <a:rPr lang="en-GB" sz="2600" dirty="0"/>
              <a:t>recommends items similar to those a user has liked, based on item metadata (genres and tags), without requiring any knowledge of other users.</a:t>
            </a:r>
            <a:br>
              <a:rPr lang="en-GB" sz="2600" dirty="0"/>
            </a:br>
            <a:endParaRPr lang="en-GB" sz="2600" dirty="0"/>
          </a:p>
          <a:p>
            <a:r>
              <a:rPr lang="en-GB" sz="2600" b="1" dirty="0"/>
              <a:t>User-Based Collaborative Filtering </a:t>
            </a:r>
            <a:r>
              <a:rPr lang="en-GB" sz="2600" dirty="0"/>
              <a:t>identifies users with similar rating patterns and leverages their preferences to generate recommendations.</a:t>
            </a:r>
            <a:br>
              <a:rPr lang="en-GB" sz="2600" dirty="0"/>
            </a:br>
            <a:endParaRPr lang="en-GB" sz="2600" dirty="0"/>
          </a:p>
          <a:p>
            <a:r>
              <a:rPr lang="en-GB" sz="2600" b="1" dirty="0"/>
              <a:t>Item-Based Collaborative Filtering </a:t>
            </a:r>
            <a:r>
              <a:rPr lang="en-GB" sz="2600" dirty="0"/>
              <a:t>finds items that tend to be rated similarly across the user base and recommends items similar to those already liked by the target user.</a:t>
            </a:r>
            <a:br>
              <a:rPr lang="en-GB" sz="2600" dirty="0"/>
            </a:br>
            <a:endParaRPr lang="en-GB" sz="2600" dirty="0"/>
          </a:p>
          <a:p>
            <a:r>
              <a:rPr lang="en-GB" sz="2600" b="1" dirty="0"/>
              <a:t>UV Decomposition (Matrix Factorisation)</a:t>
            </a:r>
            <a:r>
              <a:rPr lang="en-GB" sz="2600" dirty="0"/>
              <a:t> learns latent representations of users and items by factorising the rating matrix, capturing hidden preference structure not directly observable in the raw ratings.</a:t>
            </a:r>
          </a:p>
          <a:p>
            <a:pPr marL="571500" indent="-342900" algn="just" fontAlgn="base">
              <a:spcBef>
                <a:spcPts val="500"/>
              </a:spcBef>
              <a:spcAft>
                <a:spcPts val="500"/>
              </a:spcAft>
              <a:buFont typeface="+mj-lt"/>
              <a:buAutoNum type="arabicPeriod"/>
            </a:pPr>
            <a:endParaRPr lang="en-GB" sz="2000" dirty="0">
              <a:latin typeface="Arial" panose="020B0604020202020204" pitchFamily="34" charset="0"/>
              <a:ea typeface="Times New Roman" panose="02020603050405020304" pitchFamily="18" charset="0"/>
              <a:cs typeface="Times New Roman" panose="02020603050405020304" pitchFamily="18" charset="0"/>
            </a:endParaRPr>
          </a:p>
          <a:p>
            <a:pPr indent="0" algn="just" fontAlgn="base">
              <a:spcBef>
                <a:spcPts val="500"/>
              </a:spcBef>
              <a:spcAft>
                <a:spcPts val="500"/>
              </a:spcAft>
              <a:buNone/>
            </a:pPr>
            <a:endParaRPr lang="en-GB" sz="2000" dirty="0">
              <a:effectLst/>
              <a:latin typeface="Arial" panose="020B06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6271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0D6C5-40CA-F5D8-B643-059BEE28B5D7}"/>
              </a:ext>
            </a:extLst>
          </p:cNvPr>
          <p:cNvSpPr>
            <a:spLocks noGrp="1"/>
          </p:cNvSpPr>
          <p:nvPr>
            <p:ph type="title"/>
          </p:nvPr>
        </p:nvSpPr>
        <p:spPr>
          <a:xfrm>
            <a:off x="838200" y="0"/>
            <a:ext cx="10515600" cy="714910"/>
          </a:xfrm>
        </p:spPr>
        <p:txBody>
          <a:bodyPr>
            <a:normAutofit/>
          </a:bodyPr>
          <a:lstStyle/>
          <a:p>
            <a:r>
              <a:rPr lang="en-GB" sz="2800" b="1" dirty="0"/>
              <a:t>3.  </a:t>
            </a:r>
            <a:r>
              <a:rPr lang="en-GB" sz="2800" b="1" u="sng" dirty="0"/>
              <a:t>Data Exploration – Data Preparation</a:t>
            </a:r>
            <a:endParaRPr lang="en-GB" sz="1600" u="sng" dirty="0"/>
          </a:p>
        </p:txBody>
      </p:sp>
      <p:sp>
        <p:nvSpPr>
          <p:cNvPr id="6" name="TextBox 5">
            <a:extLst>
              <a:ext uri="{FF2B5EF4-FFF2-40B4-BE49-F238E27FC236}">
                <a16:creationId xmlns:a16="http://schemas.microsoft.com/office/drawing/2014/main" id="{1AF18FFC-95B7-6C16-DD17-A0DC76B48076}"/>
              </a:ext>
            </a:extLst>
          </p:cNvPr>
          <p:cNvSpPr txBox="1"/>
          <p:nvPr/>
        </p:nvSpPr>
        <p:spPr>
          <a:xfrm>
            <a:off x="838200" y="714910"/>
            <a:ext cx="10515600" cy="5016758"/>
          </a:xfrm>
          <a:prstGeom prst="rect">
            <a:avLst/>
          </a:prstGeom>
          <a:noFill/>
        </p:spPr>
        <p:txBody>
          <a:bodyPr wrap="square">
            <a:spAutoFit/>
          </a:bodyPr>
          <a:lstStyle/>
          <a:p>
            <a:pPr lvl="0"/>
            <a:r>
              <a:rPr lang="en-GB" sz="2000" dirty="0"/>
              <a:t>We apply an iterative co-filtering procedure, retaining only users and movies with at least 100 ratings. A single-pass filter is insufficient as removing low-activity users may drop a movie below the threshold, and vice versa, so the filter is applied alternately until the dataset stabilises. This eliminates cold-start entities with unreliable similarity estimates while preserving a dense, statistically meaningful core. </a:t>
            </a:r>
          </a:p>
          <a:p>
            <a:pPr marL="457200" lvl="0" indent="-457200">
              <a:buFont typeface="+mj-lt"/>
              <a:buAutoNum type="arabicPeriod"/>
            </a:pPr>
            <a:endParaRPr lang="en-GB" sz="2000" b="1" kern="0" dirty="0">
              <a:ea typeface="Times New Roman" panose="02020603050405020304" pitchFamily="18" charset="0"/>
              <a:cs typeface="Calibri" panose="020F0502020204030204" pitchFamily="34" charset="0"/>
            </a:endParaRPr>
          </a:p>
          <a:p>
            <a:r>
              <a:rPr lang="en-GB" sz="2000" dirty="0"/>
              <a:t>A temporal split is used to simulate realistic deployment conditions: the model is trained on each user's earlier ratings and evaluated on their later ones, preventing future data from leaking into training and ensuring metrics reflect genuine predictive performance</a:t>
            </a:r>
          </a:p>
          <a:p>
            <a:pPr marL="457200" indent="-457200">
              <a:buFont typeface="+mj-lt"/>
              <a:buAutoNum type="arabicPeriod"/>
            </a:pPr>
            <a:endParaRPr lang="en-GB" sz="2000" dirty="0"/>
          </a:p>
          <a:p>
            <a:r>
              <a:rPr lang="en-GB" sz="2000" dirty="0"/>
              <a:t>The training set contains 81,612 unique users who rated 11,943 unique movies, producing 20,721,823 ratings in total. Ratings range from 0.5 to 5.0 with a global mean of 3.5, reflecting the positive selection bias inherent in explicit feedback datasets, users tend to rate items they chose to watch and expected to enjoy, skewing the distribution upward. On average, each user has rated 254 movies and each movie has received 1,736 ratings, consistent with the 100-rating filter applied during preprocessing.</a:t>
            </a:r>
          </a:p>
        </p:txBody>
      </p:sp>
    </p:spTree>
    <p:extLst>
      <p:ext uri="{BB962C8B-B14F-4D97-AF65-F5344CB8AC3E}">
        <p14:creationId xmlns:p14="http://schemas.microsoft.com/office/powerpoint/2010/main" val="2057701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B86A689-FB0C-D439-A2FE-54759C91B904}"/>
              </a:ext>
            </a:extLst>
          </p:cNvPr>
          <p:cNvSpPr>
            <a:spLocks noGrp="1"/>
          </p:cNvSpPr>
          <p:nvPr>
            <p:ph type="title"/>
          </p:nvPr>
        </p:nvSpPr>
        <p:spPr>
          <a:xfrm>
            <a:off x="838200" y="0"/>
            <a:ext cx="10515600" cy="816561"/>
          </a:xfrm>
        </p:spPr>
        <p:txBody>
          <a:bodyPr>
            <a:normAutofit/>
          </a:bodyPr>
          <a:lstStyle/>
          <a:p>
            <a:r>
              <a:rPr lang="en-GB" sz="2800" b="1" dirty="0"/>
              <a:t>3.  </a:t>
            </a:r>
            <a:r>
              <a:rPr lang="en-GB" sz="2800" b="1" u="sng" dirty="0"/>
              <a:t>Data Exploration – Data Preparation</a:t>
            </a:r>
          </a:p>
        </p:txBody>
      </p:sp>
      <p:sp>
        <p:nvSpPr>
          <p:cNvPr id="8" name="TextBox 7">
            <a:extLst>
              <a:ext uri="{FF2B5EF4-FFF2-40B4-BE49-F238E27FC236}">
                <a16:creationId xmlns:a16="http://schemas.microsoft.com/office/drawing/2014/main" id="{1DF865DA-44EF-59F5-1216-FDB444237F32}"/>
              </a:ext>
            </a:extLst>
          </p:cNvPr>
          <p:cNvSpPr txBox="1"/>
          <p:nvPr/>
        </p:nvSpPr>
        <p:spPr>
          <a:xfrm>
            <a:off x="838200" y="816561"/>
            <a:ext cx="10515600" cy="6186309"/>
          </a:xfrm>
          <a:prstGeom prst="rect">
            <a:avLst/>
          </a:prstGeom>
          <a:noFill/>
        </p:spPr>
        <p:txBody>
          <a:bodyPr wrap="square">
            <a:spAutoFit/>
          </a:bodyPr>
          <a:lstStyle/>
          <a:p>
            <a:r>
              <a:rPr lang="en-GB" sz="2000" dirty="0"/>
              <a:t>Ratings are left-skewed with the vast majority falling at 3.0 or above. 4.0 is the most frequent value at over 5 million ratings, followed by 3.0 at roughly 4 million. Half-star ratings are consistently less common than their adjacent whole-star values, suggesting users favour round numbers. Ratings of 1.5 and below are rare, reinforcing that users predominantly rate content they chose to engage with and found at least moderately worthwhile.</a:t>
            </a:r>
            <a:br>
              <a:rPr lang="en-GB" sz="2000" b="1" dirty="0"/>
            </a:br>
            <a:endParaRPr lang="en-GB" sz="2000" dirty="0"/>
          </a:p>
          <a:p>
            <a:r>
              <a:rPr lang="en-GB" sz="2000" dirty="0"/>
              <a:t>The majority of users have rated between 100 and 500 movies, with the count dropping sharply beyond that. A small number of highly active users have rated over 3,000 movies. The movie distribution tells the same story as most movies sit near the 100-rating floor imposed by the filter, while a handful of titles accumulate tens of thousands of ratings.</a:t>
            </a:r>
          </a:p>
          <a:p>
            <a:endParaRPr lang="en-GB" dirty="0"/>
          </a:p>
          <a:p>
            <a:r>
              <a:rPr lang="en-GB" sz="2000" dirty="0"/>
              <a:t>The utility matrix spans 81,612 users and 11,943 movies, yielding roughly 974 million possible user-movie pairs. With 25.9 million observed ratings, the matrix is 97.34% sparse, meaning only 2.66% of entries are filled. This level of sparsity is typical of real-world rating datasets and is the fundamental challenge that recommender systems must overcome.</a:t>
            </a:r>
          </a:p>
          <a:p>
            <a:endParaRPr lang="en-GB" sz="2000" dirty="0"/>
          </a:p>
          <a:p>
            <a:r>
              <a:rPr lang="en-GB" sz="2000" dirty="0"/>
              <a:t>Despite this, the 100-rating filter applied during preprocessing ensures that no user or movie enters the matrix with fewer than 100 observations. This means there are no completely cold entities as every row and every column has sufficient signal for similarity computation.</a:t>
            </a:r>
          </a:p>
          <a:p>
            <a:endParaRPr lang="en-GB" dirty="0"/>
          </a:p>
        </p:txBody>
      </p:sp>
    </p:spTree>
    <p:extLst>
      <p:ext uri="{BB962C8B-B14F-4D97-AF65-F5344CB8AC3E}">
        <p14:creationId xmlns:p14="http://schemas.microsoft.com/office/powerpoint/2010/main" val="13511658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AE3B5F-679F-A905-D3FB-D060C02B2872}"/>
              </a:ext>
            </a:extLst>
          </p:cNvPr>
          <p:cNvSpPr>
            <a:spLocks noGrp="1"/>
          </p:cNvSpPr>
          <p:nvPr>
            <p:ph idx="1"/>
          </p:nvPr>
        </p:nvSpPr>
        <p:spPr>
          <a:xfrm>
            <a:off x="838200" y="796413"/>
            <a:ext cx="10294374" cy="5132439"/>
          </a:xfrm>
        </p:spPr>
        <p:txBody>
          <a:bodyPr>
            <a:normAutofit/>
          </a:bodyPr>
          <a:lstStyle/>
          <a:p>
            <a:pPr marL="0" indent="0">
              <a:buNone/>
            </a:pPr>
            <a:r>
              <a:rPr lang="en-GB" dirty="0"/>
              <a:t>The content-based model builds a profile for each user from the metadata of movies they have rated. Movie metadata is constructed by combining genre labels with genome tag scores, retaining only tags with a relevance score of 0.5 or above. This corpus is vectorised using TF-IDF, producing a sparse item matrix where each movie is represented by a weighted term vector. A user profile is then computed as a weighted sum of the TF-IDF vectors of rated movies, where the weights are the mean-centred ratings. Positively rated movies pull the profile toward their content, negatively rated ones push away. At inference time, recommendations are generated by computing cosine similarity between the user profile and all unrated item vectors, scaled to the rating range using the training set standard deviation.</a:t>
            </a:r>
          </a:p>
          <a:p>
            <a:pPr marL="742950" lvl="1" indent="-285750">
              <a:lnSpc>
                <a:spcPct val="107000"/>
              </a:lnSpc>
              <a:spcAft>
                <a:spcPts val="800"/>
              </a:spcAft>
              <a:buSzPts val="1000"/>
              <a:buFont typeface="Courier New" panose="02070309020205020404" pitchFamily="49" charset="0"/>
              <a:buChar char="o"/>
              <a:tabLst>
                <a:tab pos="914400" algn="l"/>
              </a:tabLst>
            </a:pPr>
            <a:endParaRPr lang="en-GB" sz="1800" dirty="0"/>
          </a:p>
        </p:txBody>
      </p:sp>
      <p:sp>
        <p:nvSpPr>
          <p:cNvPr id="2" name="Title 1">
            <a:extLst>
              <a:ext uri="{FF2B5EF4-FFF2-40B4-BE49-F238E27FC236}">
                <a16:creationId xmlns:a16="http://schemas.microsoft.com/office/drawing/2014/main" id="{16ACC234-DBBC-4B85-AB09-D9654C90419E}"/>
              </a:ext>
            </a:extLst>
          </p:cNvPr>
          <p:cNvSpPr>
            <a:spLocks noGrp="1"/>
          </p:cNvSpPr>
          <p:nvPr>
            <p:ph type="title"/>
          </p:nvPr>
        </p:nvSpPr>
        <p:spPr>
          <a:xfrm>
            <a:off x="838200" y="0"/>
            <a:ext cx="10515600" cy="796413"/>
          </a:xfrm>
        </p:spPr>
        <p:txBody>
          <a:bodyPr>
            <a:normAutofit/>
          </a:bodyPr>
          <a:lstStyle/>
          <a:p>
            <a:r>
              <a:rPr lang="en-GB" sz="2800" b="1" dirty="0"/>
              <a:t>4.  </a:t>
            </a:r>
            <a:r>
              <a:rPr lang="en-GB" sz="2800" b="1" u="sng" dirty="0"/>
              <a:t>Content-Based Filtering</a:t>
            </a:r>
          </a:p>
        </p:txBody>
      </p:sp>
    </p:spTree>
    <p:extLst>
      <p:ext uri="{BB962C8B-B14F-4D97-AF65-F5344CB8AC3E}">
        <p14:creationId xmlns:p14="http://schemas.microsoft.com/office/powerpoint/2010/main" val="2215795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1BA28A7-AC49-EAAF-94CA-FC48104DFEDF}"/>
              </a:ext>
            </a:extLst>
          </p:cNvPr>
          <p:cNvSpPr>
            <a:spLocks noGrp="1"/>
          </p:cNvSpPr>
          <p:nvPr>
            <p:ph type="title"/>
          </p:nvPr>
        </p:nvSpPr>
        <p:spPr>
          <a:xfrm>
            <a:off x="838200" y="0"/>
            <a:ext cx="10515600" cy="840658"/>
          </a:xfrm>
        </p:spPr>
        <p:txBody>
          <a:bodyPr>
            <a:normAutofit/>
          </a:bodyPr>
          <a:lstStyle/>
          <a:p>
            <a:r>
              <a:rPr lang="en-GB" sz="2800" b="1" dirty="0"/>
              <a:t>5.  </a:t>
            </a:r>
            <a:r>
              <a:rPr lang="en-GB" sz="2800" b="1" u="sng" dirty="0"/>
              <a:t>User-Based Collaborative Filtering</a:t>
            </a:r>
            <a:endParaRPr lang="en-GB" sz="1600" u="sng" dirty="0"/>
          </a:p>
        </p:txBody>
      </p:sp>
      <p:sp>
        <p:nvSpPr>
          <p:cNvPr id="10" name="TextBox 9">
            <a:extLst>
              <a:ext uri="{FF2B5EF4-FFF2-40B4-BE49-F238E27FC236}">
                <a16:creationId xmlns:a16="http://schemas.microsoft.com/office/drawing/2014/main" id="{BAC39F7D-0B17-D8FB-DE39-959C9C84BA39}"/>
              </a:ext>
            </a:extLst>
          </p:cNvPr>
          <p:cNvSpPr txBox="1"/>
          <p:nvPr/>
        </p:nvSpPr>
        <p:spPr>
          <a:xfrm>
            <a:off x="838200" y="840658"/>
            <a:ext cx="10515600" cy="3293209"/>
          </a:xfrm>
          <a:prstGeom prst="rect">
            <a:avLst/>
          </a:prstGeom>
          <a:noFill/>
        </p:spPr>
        <p:txBody>
          <a:bodyPr wrap="square">
            <a:spAutoFit/>
          </a:bodyPr>
          <a:lstStyle/>
          <a:p>
            <a:r>
              <a:rPr lang="en-GB" sz="2600" dirty="0"/>
              <a:t>The user-based model identifies users with similar rating patterns and aggregates their ratings to predict how the target user would rate unseen items. The rating matrix is stored as a sparse CSR matrix. For a given user, cosine similarity is computed against all other users. Only neighbours above a similarity threshold of 0.3 are considered, capped at the top 100. Predictions are computed as the target user's mean rating adjusted by a similarity-weighted average of neighbours' mean-centred ratings, which corrects for individual rating scale differences.</a:t>
            </a:r>
          </a:p>
        </p:txBody>
      </p:sp>
    </p:spTree>
    <p:extLst>
      <p:ext uri="{BB962C8B-B14F-4D97-AF65-F5344CB8AC3E}">
        <p14:creationId xmlns:p14="http://schemas.microsoft.com/office/powerpoint/2010/main" val="36051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
            <a:extLst>
              <a:ext uri="{FF2B5EF4-FFF2-40B4-BE49-F238E27FC236}">
                <a16:creationId xmlns:a16="http://schemas.microsoft.com/office/drawing/2014/main" id="{8B8E421A-FD30-0E64-F2D5-5833E0E780BF}"/>
              </a:ext>
            </a:extLst>
          </p:cNvPr>
          <p:cNvSpPr>
            <a:spLocks noChangeArrowheads="1"/>
          </p:cNvSpPr>
          <p:nvPr/>
        </p:nvSpPr>
        <p:spPr bwMode="auto">
          <a:xfrm>
            <a:off x="3746500" y="3824288"/>
            <a:ext cx="4555671"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GB"/>
          </a:p>
        </p:txBody>
      </p:sp>
      <p:sp>
        <p:nvSpPr>
          <p:cNvPr id="7" name="TextBox 6">
            <a:extLst>
              <a:ext uri="{FF2B5EF4-FFF2-40B4-BE49-F238E27FC236}">
                <a16:creationId xmlns:a16="http://schemas.microsoft.com/office/drawing/2014/main" id="{FBAF26FB-6722-1033-8EDA-C47CC1E2242E}"/>
              </a:ext>
            </a:extLst>
          </p:cNvPr>
          <p:cNvSpPr txBox="1"/>
          <p:nvPr/>
        </p:nvSpPr>
        <p:spPr>
          <a:xfrm>
            <a:off x="838200" y="841321"/>
            <a:ext cx="10515600" cy="3170099"/>
          </a:xfrm>
          <a:prstGeom prst="rect">
            <a:avLst/>
          </a:prstGeom>
          <a:noFill/>
        </p:spPr>
        <p:txBody>
          <a:bodyPr wrap="square">
            <a:spAutoFit/>
          </a:bodyPr>
          <a:lstStyle/>
          <a:p>
            <a:r>
              <a:rPr lang="en-GB" sz="2600" dirty="0"/>
              <a:t>The item-based model computes similarity between items based on how users have co-rated them. For a target user-item pair, the model identifies items the user has already rated, computes cosine similarity between those items and the target item, and produces a prediction as the target item's mean rating adjusted by a similarity-weighted average of the user's mean-centred ratings on similar items. The same neighbour threshold and cap apply as in the user-based model.</a:t>
            </a:r>
          </a:p>
          <a:p>
            <a:pPr lvl="0"/>
            <a:endParaRPr lang="en-GB" dirty="0"/>
          </a:p>
        </p:txBody>
      </p:sp>
      <p:sp>
        <p:nvSpPr>
          <p:cNvPr id="3" name="Title 1">
            <a:extLst>
              <a:ext uri="{FF2B5EF4-FFF2-40B4-BE49-F238E27FC236}">
                <a16:creationId xmlns:a16="http://schemas.microsoft.com/office/drawing/2014/main" id="{9ED7C090-6964-D7E1-A07C-09DB2CF1FF63}"/>
              </a:ext>
            </a:extLst>
          </p:cNvPr>
          <p:cNvSpPr>
            <a:spLocks noGrp="1"/>
          </p:cNvSpPr>
          <p:nvPr>
            <p:ph type="title"/>
          </p:nvPr>
        </p:nvSpPr>
        <p:spPr>
          <a:xfrm>
            <a:off x="838200" y="663"/>
            <a:ext cx="10515600" cy="840658"/>
          </a:xfrm>
        </p:spPr>
        <p:txBody>
          <a:bodyPr>
            <a:normAutofit/>
          </a:bodyPr>
          <a:lstStyle/>
          <a:p>
            <a:r>
              <a:rPr lang="en-GB" sz="2800" b="1" dirty="0"/>
              <a:t>6.  </a:t>
            </a:r>
            <a:r>
              <a:rPr lang="en-GB" sz="2800" b="1" u="sng" dirty="0"/>
              <a:t>Item-Based Collaborative Filtering</a:t>
            </a:r>
            <a:endParaRPr lang="en-GB" sz="1600" u="sng" dirty="0"/>
          </a:p>
        </p:txBody>
      </p:sp>
    </p:spTree>
    <p:extLst>
      <p:ext uri="{BB962C8B-B14F-4D97-AF65-F5344CB8AC3E}">
        <p14:creationId xmlns:p14="http://schemas.microsoft.com/office/powerpoint/2010/main" val="3829610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026DCBD-F224-570B-F3F0-F61AE1294046}"/>
              </a:ext>
            </a:extLst>
          </p:cNvPr>
          <p:cNvSpPr>
            <a:spLocks noGrp="1"/>
          </p:cNvSpPr>
          <p:nvPr>
            <p:ph type="title"/>
          </p:nvPr>
        </p:nvSpPr>
        <p:spPr>
          <a:xfrm>
            <a:off x="838200" y="0"/>
            <a:ext cx="10515600" cy="751394"/>
          </a:xfrm>
        </p:spPr>
        <p:txBody>
          <a:bodyPr>
            <a:normAutofit/>
          </a:bodyPr>
          <a:lstStyle/>
          <a:p>
            <a:r>
              <a:rPr lang="en-GB" sz="2800" b="1" dirty="0"/>
              <a:t>7.  </a:t>
            </a:r>
            <a:r>
              <a:rPr lang="en-GB" sz="2800" b="1" u="sng" dirty="0"/>
              <a:t>UV-decomposition (Matrix Factorisation) </a:t>
            </a:r>
            <a:endParaRPr lang="en-GB" sz="2800" u="sng" dirty="0"/>
          </a:p>
        </p:txBody>
      </p:sp>
      <p:sp>
        <p:nvSpPr>
          <p:cNvPr id="6" name="TextBox 5">
            <a:extLst>
              <a:ext uri="{FF2B5EF4-FFF2-40B4-BE49-F238E27FC236}">
                <a16:creationId xmlns:a16="http://schemas.microsoft.com/office/drawing/2014/main" id="{35135908-9D76-6CED-EF46-32396705F555}"/>
              </a:ext>
            </a:extLst>
          </p:cNvPr>
          <p:cNvSpPr txBox="1"/>
          <p:nvPr/>
        </p:nvSpPr>
        <p:spPr>
          <a:xfrm>
            <a:off x="838200" y="751394"/>
            <a:ext cx="10515600" cy="2893100"/>
          </a:xfrm>
          <a:prstGeom prst="rect">
            <a:avLst/>
          </a:prstGeom>
          <a:noFill/>
        </p:spPr>
        <p:txBody>
          <a:bodyPr wrap="square">
            <a:spAutoFit/>
          </a:bodyPr>
          <a:lstStyle/>
          <a:p>
            <a:r>
              <a:rPr lang="en-GB" sz="2600" dirty="0"/>
              <a:t>UV decomposition factorises the rating matrix into two lower-dimensional dense matrices: a user factor matrix P and an item factor matrix Q, each with 15 latent dimensions. The predicted rating for a user-item pair is the dot product of their respective factor vectors. Both matrices are learned via mini-batch stochastic gradient descent with L2 regularisation, shuffling the training data each epoch. Training runs for up to 50 epochs with early stopping when the observed MSE falls below 0.55</a:t>
            </a:r>
          </a:p>
        </p:txBody>
      </p:sp>
    </p:spTree>
    <p:extLst>
      <p:ext uri="{BB962C8B-B14F-4D97-AF65-F5344CB8AC3E}">
        <p14:creationId xmlns:p14="http://schemas.microsoft.com/office/powerpoint/2010/main" val="3576504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BE1D57F-93CC-8613-771F-ADFACE8B320E}"/>
              </a:ext>
            </a:extLst>
          </p:cNvPr>
          <p:cNvSpPr>
            <a:spLocks noGrp="1"/>
          </p:cNvSpPr>
          <p:nvPr>
            <p:ph type="title"/>
          </p:nvPr>
        </p:nvSpPr>
        <p:spPr>
          <a:xfrm>
            <a:off x="838200" y="0"/>
            <a:ext cx="10515600" cy="714910"/>
          </a:xfrm>
        </p:spPr>
        <p:txBody>
          <a:bodyPr>
            <a:normAutofit/>
          </a:bodyPr>
          <a:lstStyle/>
          <a:p>
            <a:r>
              <a:rPr lang="en-GB" sz="2800" b="1" dirty="0"/>
              <a:t>8.  </a:t>
            </a:r>
            <a:r>
              <a:rPr lang="en-GB" sz="2800" b="1" u="sng" dirty="0"/>
              <a:t>Evaluation</a:t>
            </a:r>
            <a:endParaRPr lang="en-GB" sz="2800" u="sng" dirty="0"/>
          </a:p>
        </p:txBody>
      </p:sp>
      <p:sp>
        <p:nvSpPr>
          <p:cNvPr id="11" name="TextBox 10">
            <a:extLst>
              <a:ext uri="{FF2B5EF4-FFF2-40B4-BE49-F238E27FC236}">
                <a16:creationId xmlns:a16="http://schemas.microsoft.com/office/drawing/2014/main" id="{9953B2B2-D456-6601-4ADD-E705A4C956A3}"/>
              </a:ext>
            </a:extLst>
          </p:cNvPr>
          <p:cNvSpPr txBox="1"/>
          <p:nvPr/>
        </p:nvSpPr>
        <p:spPr>
          <a:xfrm>
            <a:off x="838200" y="714910"/>
            <a:ext cx="10515600" cy="6093976"/>
          </a:xfrm>
          <a:prstGeom prst="rect">
            <a:avLst/>
          </a:prstGeom>
          <a:noFill/>
        </p:spPr>
        <p:txBody>
          <a:bodyPr wrap="square">
            <a:spAutoFit/>
          </a:bodyPr>
          <a:lstStyle/>
          <a:p>
            <a:r>
              <a:rPr lang="en-GB" sz="2600" b="1" dirty="0"/>
              <a:t>Rating Accuracy</a:t>
            </a:r>
            <a:r>
              <a:rPr lang="en-GB" sz="2600" dirty="0"/>
              <a:t> measures how closely predicted ratings match actual ratings at the individual pair level. </a:t>
            </a:r>
            <a:r>
              <a:rPr lang="en-GB" sz="2600" b="1" dirty="0"/>
              <a:t>RMSE</a:t>
            </a:r>
            <a:r>
              <a:rPr lang="en-GB" sz="2600" dirty="0"/>
              <a:t> penalises large errors more heavily due to squaring, making it sensitive to outliers, while </a:t>
            </a:r>
            <a:r>
              <a:rPr lang="en-GB" sz="2600" b="1" dirty="0"/>
              <a:t>MAE</a:t>
            </a:r>
            <a:r>
              <a:rPr lang="en-GB" sz="2600" dirty="0"/>
              <a:t> treats all errors equally and is more interpretable as an average absolute deviation in rating units.</a:t>
            </a:r>
            <a:br>
              <a:rPr lang="en-GB" sz="2600" dirty="0"/>
            </a:br>
            <a:endParaRPr lang="en-GB" sz="2600" dirty="0"/>
          </a:p>
          <a:p>
            <a:r>
              <a:rPr lang="en-GB" sz="2600" b="1" dirty="0"/>
              <a:t>Ranking Quality</a:t>
            </a:r>
            <a:r>
              <a:rPr lang="en-GB" sz="2600" dirty="0"/>
              <a:t> measures how well each model orders items for a given user. </a:t>
            </a:r>
            <a:r>
              <a:rPr lang="en-GB" sz="2600" b="1" dirty="0"/>
              <a:t>Precision@10 </a:t>
            </a:r>
            <a:r>
              <a:rPr lang="en-GB" sz="2600" dirty="0"/>
              <a:t>is the fraction of the top-10 recommended items that are relevant, where relevance is defined as a rating of 3.5 or above. </a:t>
            </a:r>
            <a:r>
              <a:rPr lang="en-GB" sz="2600" b="1" dirty="0"/>
              <a:t>Recall@10 </a:t>
            </a:r>
            <a:r>
              <a:rPr lang="en-GB" sz="2600" dirty="0"/>
              <a:t>is the fraction of all relevant items in the test set that appear in the top-10. </a:t>
            </a:r>
            <a:r>
              <a:rPr lang="en-GB" sz="2600" b="1" dirty="0"/>
              <a:t>nDCG@10 (Normalised Discounted Cumulative Gain) </a:t>
            </a:r>
            <a:r>
              <a:rPr lang="en-GB" sz="2600" dirty="0"/>
              <a:t>extends precision by accounting for position</a:t>
            </a:r>
          </a:p>
          <a:p>
            <a:endParaRPr lang="en-GB" sz="2600" dirty="0"/>
          </a:p>
          <a:p>
            <a:r>
              <a:rPr lang="en-GB" sz="2600" dirty="0"/>
              <a:t>Together these metrics capture complementary aspects of recommender performance: a model can achieve low RMSE by predicting ratings accurately without necessarily ranking the best items at the top, and vice versa.</a:t>
            </a:r>
          </a:p>
        </p:txBody>
      </p:sp>
    </p:spTree>
    <p:extLst>
      <p:ext uri="{BB962C8B-B14F-4D97-AF65-F5344CB8AC3E}">
        <p14:creationId xmlns:p14="http://schemas.microsoft.com/office/powerpoint/2010/main" val="375090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8463638-2261-66F2-CA2E-748B51143F37}"/>
              </a:ext>
            </a:extLst>
          </p:cNvPr>
          <p:cNvGraphicFramePr>
            <a:graphicFrameLocks noGrp="1"/>
          </p:cNvGraphicFramePr>
          <p:nvPr>
            <p:ph idx="1"/>
            <p:extLst>
              <p:ext uri="{D42A27DB-BD31-4B8C-83A1-F6EECF244321}">
                <p14:modId xmlns:p14="http://schemas.microsoft.com/office/powerpoint/2010/main" val="453308814"/>
              </p:ext>
            </p:extLst>
          </p:nvPr>
        </p:nvGraphicFramePr>
        <p:xfrm>
          <a:off x="838200" y="1047135"/>
          <a:ext cx="10202361" cy="3485536"/>
        </p:xfrm>
        <a:graphic>
          <a:graphicData uri="http://schemas.openxmlformats.org/drawingml/2006/table">
            <a:tbl>
              <a:tblPr>
                <a:tableStyleId>{2D5ABB26-0587-4C30-8999-92F81FD0307C}</a:tableStyleId>
              </a:tblPr>
              <a:tblGrid>
                <a:gridCol w="2273710">
                  <a:extLst>
                    <a:ext uri="{9D8B030D-6E8A-4147-A177-3AD203B41FA5}">
                      <a16:colId xmlns:a16="http://schemas.microsoft.com/office/drawing/2014/main" val="953959614"/>
                    </a:ext>
                  </a:extLst>
                </a:gridCol>
                <a:gridCol w="1312606">
                  <a:extLst>
                    <a:ext uri="{9D8B030D-6E8A-4147-A177-3AD203B41FA5}">
                      <a16:colId xmlns:a16="http://schemas.microsoft.com/office/drawing/2014/main" val="1361812504"/>
                    </a:ext>
                  </a:extLst>
                </a:gridCol>
                <a:gridCol w="1194619">
                  <a:extLst>
                    <a:ext uri="{9D8B030D-6E8A-4147-A177-3AD203B41FA5}">
                      <a16:colId xmlns:a16="http://schemas.microsoft.com/office/drawing/2014/main" val="3742146332"/>
                    </a:ext>
                  </a:extLst>
                </a:gridCol>
                <a:gridCol w="2109020">
                  <a:extLst>
                    <a:ext uri="{9D8B030D-6E8A-4147-A177-3AD203B41FA5}">
                      <a16:colId xmlns:a16="http://schemas.microsoft.com/office/drawing/2014/main" val="962348635"/>
                    </a:ext>
                  </a:extLst>
                </a:gridCol>
                <a:gridCol w="1666568">
                  <a:extLst>
                    <a:ext uri="{9D8B030D-6E8A-4147-A177-3AD203B41FA5}">
                      <a16:colId xmlns:a16="http://schemas.microsoft.com/office/drawing/2014/main" val="3266724155"/>
                    </a:ext>
                  </a:extLst>
                </a:gridCol>
                <a:gridCol w="1645838">
                  <a:extLst>
                    <a:ext uri="{9D8B030D-6E8A-4147-A177-3AD203B41FA5}">
                      <a16:colId xmlns:a16="http://schemas.microsoft.com/office/drawing/2014/main" val="961513797"/>
                    </a:ext>
                  </a:extLst>
                </a:gridCol>
              </a:tblGrid>
              <a:tr h="650404">
                <a:tc>
                  <a:txBody>
                    <a:bodyPr/>
                    <a:lstStyle/>
                    <a:p>
                      <a:pPr>
                        <a:buNone/>
                      </a:pPr>
                      <a:endParaRPr lang="en-GB" sz="26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600" dirty="0"/>
                        <a:t>RMSE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600" dirty="0"/>
                        <a:t>MAE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600" dirty="0"/>
                        <a:t>Precision@10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600" dirty="0"/>
                        <a:t>Recall@10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600" dirty="0"/>
                        <a:t>nDCG@10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7384428"/>
                  </a:ext>
                </a:extLst>
              </a:tr>
              <a:tr h="650404">
                <a:tc>
                  <a:txBody>
                    <a:bodyPr/>
                    <a:lstStyle/>
                    <a:p>
                      <a:pPr>
                        <a:buNone/>
                      </a:pPr>
                      <a:r>
                        <a:rPr lang="en-GB" sz="2600" dirty="0"/>
                        <a:t>Content-Based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dirty="0"/>
                        <a:t>0.946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dirty="0"/>
                        <a:t>0.712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a:t>0.764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dirty="0"/>
                        <a:t>0.302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dirty="0"/>
                        <a:t>0.845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4246592"/>
                  </a:ext>
                </a:extLst>
              </a:tr>
              <a:tr h="650404">
                <a:tc>
                  <a:txBody>
                    <a:bodyPr/>
                    <a:lstStyle/>
                    <a:p>
                      <a:pPr>
                        <a:buNone/>
                      </a:pPr>
                      <a:r>
                        <a:rPr lang="en-GB" sz="2600" dirty="0"/>
                        <a:t>User-Based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a:t>0.842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dirty="0"/>
                        <a:t>0.633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dirty="0"/>
                        <a:t>0.804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a:t>0.324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dirty="0"/>
                        <a:t>0.871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8177070"/>
                  </a:ext>
                </a:extLst>
              </a:tr>
              <a:tr h="650404">
                <a:tc>
                  <a:txBody>
                    <a:bodyPr/>
                    <a:lstStyle/>
                    <a:p>
                      <a:pPr>
                        <a:buNone/>
                      </a:pPr>
                      <a:r>
                        <a:rPr lang="en-GB" sz="2600"/>
                        <a:t>Item-Based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a:t>0.877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a:t>0.659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dirty="0"/>
                        <a:t>0.791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dirty="0"/>
                        <a:t>0.318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dirty="0"/>
                        <a:t>0.860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8370283"/>
                  </a:ext>
                </a:extLst>
              </a:tr>
              <a:tr h="650404">
                <a:tc>
                  <a:txBody>
                    <a:bodyPr/>
                    <a:lstStyle/>
                    <a:p>
                      <a:pPr>
                        <a:buNone/>
                      </a:pPr>
                      <a:r>
                        <a:rPr lang="en-GB" sz="2600" dirty="0"/>
                        <a:t>UV-Decomposition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dirty="0"/>
                        <a:t>0.795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a:t>0.598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dirty="0"/>
                        <a:t>0.819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dirty="0"/>
                        <a:t>0.332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GB" sz="2600" dirty="0"/>
                        <a:t>0.881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6952553"/>
                  </a:ext>
                </a:extLst>
              </a:tr>
            </a:tbl>
          </a:graphicData>
        </a:graphic>
      </p:graphicFrame>
      <p:sp>
        <p:nvSpPr>
          <p:cNvPr id="5" name="Title 1">
            <a:extLst>
              <a:ext uri="{FF2B5EF4-FFF2-40B4-BE49-F238E27FC236}">
                <a16:creationId xmlns:a16="http://schemas.microsoft.com/office/drawing/2014/main" id="{844FDC92-408B-7BC9-2B1A-8B7E960669A1}"/>
              </a:ext>
            </a:extLst>
          </p:cNvPr>
          <p:cNvSpPr>
            <a:spLocks noGrp="1"/>
          </p:cNvSpPr>
          <p:nvPr>
            <p:ph type="title"/>
          </p:nvPr>
        </p:nvSpPr>
        <p:spPr>
          <a:xfrm>
            <a:off x="838200" y="0"/>
            <a:ext cx="10515600" cy="1047135"/>
          </a:xfrm>
        </p:spPr>
        <p:txBody>
          <a:bodyPr>
            <a:normAutofit/>
          </a:bodyPr>
          <a:lstStyle/>
          <a:p>
            <a:r>
              <a:rPr lang="en-GB" sz="2800" b="1" dirty="0"/>
              <a:t>8.  </a:t>
            </a:r>
            <a:r>
              <a:rPr lang="en-GB" sz="2800" b="1" u="sng" dirty="0"/>
              <a:t>Evaluation</a:t>
            </a:r>
            <a:endParaRPr lang="en-GB" sz="2800" u="sng" dirty="0"/>
          </a:p>
        </p:txBody>
      </p:sp>
    </p:spTree>
    <p:extLst>
      <p:ext uri="{BB962C8B-B14F-4D97-AF65-F5344CB8AC3E}">
        <p14:creationId xmlns:p14="http://schemas.microsoft.com/office/powerpoint/2010/main" val="1461523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AA19CF-3B8A-70CF-3E0D-C1B0933B212F}"/>
              </a:ext>
            </a:extLst>
          </p:cNvPr>
          <p:cNvSpPr>
            <a:spLocks noGrp="1"/>
          </p:cNvSpPr>
          <p:nvPr>
            <p:ph idx="1"/>
          </p:nvPr>
        </p:nvSpPr>
        <p:spPr>
          <a:xfrm>
            <a:off x="838200" y="1047135"/>
            <a:ext cx="10515600" cy="3483794"/>
          </a:xfrm>
        </p:spPr>
        <p:txBody>
          <a:bodyPr>
            <a:normAutofit/>
          </a:bodyPr>
          <a:lstStyle/>
          <a:p>
            <a:pPr marL="0" indent="0">
              <a:buNone/>
            </a:pPr>
            <a:r>
              <a:rPr lang="en-GB" sz="2600" dirty="0"/>
              <a:t>Across all five metrics the ranking is consistent: UV Decomposition leads, followed by User-Based, Item-Based, and Content-Based. This ordering makes intuitive sense since the more a model knows about how users collectively behave, the better it performs, with the content model working blind to that information and UV capturing the deepest patterns in the data. The high scores across the board reflect the fact that we are evaluating on a dense, active subset of the dataset where every model has plenty to work with. Within that context, the results are clean, coherent, and confirm that each algorithm does exactly what it is designed to do.</a:t>
            </a:r>
          </a:p>
        </p:txBody>
      </p:sp>
      <p:sp>
        <p:nvSpPr>
          <p:cNvPr id="4" name="Title 1">
            <a:extLst>
              <a:ext uri="{FF2B5EF4-FFF2-40B4-BE49-F238E27FC236}">
                <a16:creationId xmlns:a16="http://schemas.microsoft.com/office/drawing/2014/main" id="{E9D16F6F-C957-8A3A-74BD-FA70C91D4EF9}"/>
              </a:ext>
            </a:extLst>
          </p:cNvPr>
          <p:cNvSpPr>
            <a:spLocks noGrp="1"/>
          </p:cNvSpPr>
          <p:nvPr>
            <p:ph type="title"/>
          </p:nvPr>
        </p:nvSpPr>
        <p:spPr>
          <a:xfrm>
            <a:off x="838200" y="0"/>
            <a:ext cx="10515600" cy="1047135"/>
          </a:xfrm>
        </p:spPr>
        <p:txBody>
          <a:bodyPr>
            <a:normAutofit/>
          </a:bodyPr>
          <a:lstStyle/>
          <a:p>
            <a:r>
              <a:rPr lang="en-GB" sz="2800" b="1" dirty="0"/>
              <a:t>9.  </a:t>
            </a:r>
            <a:r>
              <a:rPr lang="en-GB" sz="2800" b="1" u="sng" dirty="0"/>
              <a:t>Conclusions</a:t>
            </a:r>
            <a:endParaRPr lang="en-GB" sz="2800" u="sng" dirty="0"/>
          </a:p>
        </p:txBody>
      </p:sp>
    </p:spTree>
    <p:extLst>
      <p:ext uri="{BB962C8B-B14F-4D97-AF65-F5344CB8AC3E}">
        <p14:creationId xmlns:p14="http://schemas.microsoft.com/office/powerpoint/2010/main" val="17677852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435</TotalTime>
  <Words>1415</Words>
  <Application>Microsoft Office PowerPoint</Application>
  <PresentationFormat>Widescreen</PresentationFormat>
  <Paragraphs>69</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Courier New</vt:lpstr>
      <vt:lpstr>Times New Roman</vt:lpstr>
      <vt:lpstr>Office Theme</vt:lpstr>
      <vt:lpstr>Movie Recommendation Systems</vt:lpstr>
      <vt:lpstr>1.  Introduction</vt:lpstr>
      <vt:lpstr>2.  Algorithms</vt:lpstr>
      <vt:lpstr>3.  Data Exploration – Data Preparation</vt:lpstr>
      <vt:lpstr>3.  Data Exploration – Data Preparation</vt:lpstr>
      <vt:lpstr>4.  Content-Based Filtering</vt:lpstr>
      <vt:lpstr>5.  User-Based Collaborative Filtering</vt:lpstr>
      <vt:lpstr>6.  Item-Based Collaborative Filtering</vt:lpstr>
      <vt:lpstr>7.  UV-decomposition (Matrix Factorisation) </vt:lpstr>
      <vt:lpstr>8.  Evaluation</vt:lpstr>
      <vt:lpstr>8.  Evaluation</vt:lpstr>
      <vt:lpstr>9.  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Vasilis Gerontatis</dc:creator>
  <cp:lastModifiedBy>Vasilis Gerontatis</cp:lastModifiedBy>
  <cp:revision>9</cp:revision>
  <dcterms:created xsi:type="dcterms:W3CDTF">2025-04-29T10:05:14Z</dcterms:created>
  <dcterms:modified xsi:type="dcterms:W3CDTF">2026-07-28T14:55:24Z</dcterms:modified>
</cp:coreProperties>
</file>